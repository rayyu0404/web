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5912cee8-4271-1441-5361-a34cd0c6ba82}">
          <p14:sldIdLst>
            <p14:sldId id="256"/>
            <p14:sldId id="257"/>
          </p14:sldIdLst>
        </p14:section>
        <p14:section name="器官與定義" id="{0ef11e73-9c71-1fa8-4d5c-5dfd3cc5dee5}">
          <p14:sldIdLst>
            <p14:sldId id="258"/>
            <p14:sldId id="259"/>
          </p14:sldIdLst>
        </p14:section>
        <p14:section name="台灣現況" id="{1ed85d64-668b-c077-e547-6448168f0fb3}">
          <p14:sldIdLst>
            <p14:sldId id="260"/>
            <p14:sldId id="261"/>
          </p14:sldIdLst>
        </p14:section>
        <p14:section name="成因與症狀" id="{7b0a6fa1-cffe-dc39-5e76-05f3d8cb22c5}">
          <p14:sldIdLst>
            <p14:sldId id="262"/>
            <p14:sldId id="263"/>
            <p14:sldId id="264"/>
          </p14:sldIdLst>
        </p14:section>
        <p14:section name="預防與治療" id="{c367fa69-577f-e019-c019-56d31c255e56}">
          <p14:sldIdLst>
            <p14:sldId id="265"/>
            <p14:sldId id="266"/>
            <p14:sldId id="267"/>
            <p14:sldId id="268"/>
          </p14:sldIdLst>
        </p14:section>
        <p14:section name="實例" id="{f9c33a28-2125-ebbf-155f-65ec43fbb7de}">
          <p14:sldIdLst>
            <p14:sldId id="269"/>
          </p14:sldIdLst>
        </p14:section>
        <p14:section name="分工與來源" id="{ae4524c7-86f8-5554-50c3-405264cd3f10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112 年口腔癌新發生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A1F3D"/>
              </a:solidFill>
              <a:effectLst/>
            </c:spPr>
          </c:dPt>
          <c:dPt>
            <c:idx val="1"/>
            <c:bubble3D val="0"/>
            <c:spPr>
              <a:solidFill>
                <a:srgbClr val="D8B4C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男性</c:v>
                </c:pt>
                <c:pt idx="1">
                  <c:v>女性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7641</c:v>
                </c:pt>
                <c:pt idx="1">
                  <c:v>881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5B6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6B5B62"/>
                </a:solidFill>
                <a:latin typeface="+mn-lt"/>
              </a:rPr>
              <a:t>罹患口腔癌風險（與不使用者相比）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相對風險（倍）</c:v>
                </c:pt>
              </c:strCache>
            </c:strRef>
          </c:tx>
          <c:spPr>
            <a:solidFill>
              <a:srgbClr val="D8B4C1"/>
            </a:solidFill>
            <a:effectLst/>
          </c:spPr>
          <c:invertIfNegative val="0"/>
          <c:dLbls>
            <c:numFmt formatCode="0&quot;倍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A152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8B4C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98A9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1F3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嚼檳榔</c:v>
                  </c:pt>
                  <c:pt idx="1">
                    <c:v>檳榔＋吸菸</c:v>
                  </c:pt>
                  <c:pt idx="2">
                    <c:v>檳榔＋菸＋酒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</c:v>
                </c:pt>
                <c:pt idx="1">
                  <c:v>89</c:v>
                </c:pt>
                <c:pt idx="2">
                  <c:v>123</c:v>
                </c:pt>
              </c:numCache>
            </c:numRef>
          </c:val>
        </c:ser>
        <c:dLbls>
          <c:numFmt formatCode="0&quot;倍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2A152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A152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5B6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6B5B62"/>
                </a:solidFill>
                <a:latin typeface="+mn-lt"/>
              </a:rPr>
              <a:t>口腔癌分期五年存活率（醫師引述概估值）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五年存活率（%）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A152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F76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FA39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8A9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A1F3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第 1 期</c:v>
                  </c:pt>
                  <c:pt idx="1">
                    <c:v>第 2 期</c:v>
                  </c:pt>
                  <c:pt idx="2">
                    <c:v>第 3 期</c:v>
                  </c:pt>
                  <c:pt idx="3">
                    <c:v>第 4 期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70</c:v>
                </c:pt>
                <c:pt idx="2">
                  <c:v>60</c:v>
                </c:pt>
                <c:pt idx="3">
                  <c:v>30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2A152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A152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開場：介紹組員與題目。口腔癌是台灣男性第 4 大癌症，也是最容易預防的癌症之一。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口腔不只用來吃東西，也負責說話與防禦。口腔癌手術常影響咀嚼、吞嚥與說話，因此對生活品質衝擊很大。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癌症登記最新為 112 年資料，死因統計最新為 114 年資料。口腔癌新發 8,522 人，比 111 年多 172 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28/89/123 倍出自 1995 年台灣研究，屬經典但較舊的數據；國健署 2022 年另指出嚼檳榔加菸酒，上呼吸消化道癌風險高 10.5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江國賓案例部分媒體標題寫「口腔癌」，但實際切片為良性腫瘤，報告時請正確說明。影片：可到國健署 YouTube 頻道搜尋「口腔癌篩檢」挑一部 3 分鐘內的影片播放。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1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7A82"/>
                </a:solidFill>
              </a:rPr>
              <a:t>口腔癌 分組報告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7A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7A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口腔癌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認識台灣男性第 4 大癌症：成因、症狀、預防與治療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223760" y="457200"/>
            <a:ext cx="1097280" cy="109728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731520"/>
            <a:ext cx="548640" cy="548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1148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3C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組員：＿＿＿、＿＿＿、＿＿＿、＿＿＿、＿＿＿、＿＿＿、＿＿＿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報告大綱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器官基本功能與疾病定義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台灣現況統計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457200" cy="45720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4688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成因與高危險群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108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症狀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457200" cy="45720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749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預防方法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663440" y="118872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主要治療方式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663440" y="1828800"/>
            <a:ext cx="457200" cy="45720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634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30352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實例：新聞報導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663440" y="246888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634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303520" y="24688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663440" y="3108960"/>
            <a:ext cx="457200" cy="45720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6344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303520" y="3108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小組分工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7A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口腔：消化與呼吸的入口</a:t>
            </a:r>
            <a:endParaRPr lang="en-US" sz="2800" dirty="0"/>
          </a:p>
        </p:txBody>
      </p:sp>
      <p:sp>
        <p:nvSpPr>
          <p:cNvPr id="3" name="parts-card"/>
          <p:cNvSpPr/>
          <p:nvPr/>
        </p:nvSpPr>
        <p:spPr>
          <a:xfrm>
            <a:off x="457200" y="1143000"/>
            <a:ext cx="3291840" cy="3246120"/>
          </a:xfrm>
          <a:prstGeom prst="roundRect">
            <a:avLst>
              <a:gd name="adj" fmla="val 2254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口腔包含哪些部位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2926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唇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頰黏膜（台灣最常見部位之一）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舌頭前 2/3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口底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上、下牙齦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硬顎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臼齒後三角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023360" y="1234440"/>
            <a:ext cx="548640" cy="54864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3716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709160" y="1188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咀嚼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709160" y="15270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磨碎食物、混合唾液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0800" y="1234440"/>
            <a:ext cx="548640" cy="54864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716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86600" y="1188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吞嚥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086600" y="15270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舌頭推送食團入咽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023360" y="2331720"/>
            <a:ext cx="548640" cy="54864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246888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709160" y="22860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消化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4709160" y="26243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唾液澱粉酶分解澱粉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400800" y="2331720"/>
            <a:ext cx="548640" cy="54864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246888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086600" y="22860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語言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7086600" y="26243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舌、唇、齒配合發音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023360" y="3429000"/>
            <a:ext cx="548640" cy="54864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356616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709160" y="3383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味覺</a:t>
            </a:r>
            <a:endParaRPr lang="en-US" sz="1600" dirty="0"/>
          </a:p>
        </p:txBody>
      </p:sp>
      <p:sp>
        <p:nvSpPr>
          <p:cNvPr id="25" name="Text 18"/>
          <p:cNvSpPr txBox="1"/>
          <p:nvPr/>
        </p:nvSpPr>
        <p:spPr>
          <a:xfrm>
            <a:off x="4709160" y="37216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味蕾感受五種味道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6400800" y="3429000"/>
            <a:ext cx="548640" cy="54864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3566160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086600" y="3383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防禦</a:t>
            </a:r>
            <a:endParaRPr lang="en-US" sz="1600" dirty="0"/>
          </a:p>
        </p:txBody>
      </p:sp>
      <p:sp>
        <p:nvSpPr>
          <p:cNvPr id="29" name="Text 21"/>
          <p:cNvSpPr txBox="1"/>
          <p:nvPr/>
        </p:nvSpPr>
        <p:spPr>
          <a:xfrm>
            <a:off x="7086600" y="37216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黏膜與唾液阻擋細菌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7A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什麼是口腔癌</a:t>
            </a:r>
            <a:endParaRPr lang="en-US" sz="2800" dirty="0"/>
          </a:p>
        </p:txBody>
      </p:sp>
      <p:sp>
        <p:nvSpPr>
          <p:cNvPr id="3" name="def-card"/>
          <p:cNvSpPr/>
          <p:nvPr/>
        </p:nvSpPr>
        <p:spPr>
          <a:xfrm>
            <a:off x="457200" y="11430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口腔黏膜細胞受長期刺激（檳榔、菸、酒）產生基因突變，不受控制地增生並侵犯周圍組織，甚至轉移到頸部淋巴結。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9 成為「鱗狀上皮細胞癌」。</a:t>
            </a:r>
            <a:endParaRPr lang="en-US" sz="1500" dirty="0"/>
          </a:p>
        </p:txBody>
      </p:sp>
      <p:sp>
        <p:nvSpPr>
          <p:cNvPr id="5" name="step-0"/>
          <p:cNvSpPr/>
          <p:nvPr/>
        </p:nvSpPr>
        <p:spPr>
          <a:xfrm>
            <a:off x="457200" y="237744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E3F2EF"/>
          </a:solidFill>
          <a:ln w="12700">
            <a:solidFill>
              <a:srgbClr val="E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3774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正常黏膜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340864" y="2606040"/>
            <a:ext cx="182880" cy="274320"/>
          </a:xfrm>
          <a:prstGeom prst="chevron">
            <a:avLst/>
          </a:prstGeom>
          <a:solidFill>
            <a:srgbClr val="B98A9A"/>
          </a:solidFill>
          <a:ln w="12700">
            <a:solidFill>
              <a:srgbClr val="B98A9A"/>
            </a:solidFill>
            <a:prstDash val="solid"/>
          </a:ln>
        </p:spPr>
      </p:sp>
      <p:sp>
        <p:nvSpPr>
          <p:cNvPr id="8" name="step-1"/>
          <p:cNvSpPr/>
          <p:nvPr/>
        </p:nvSpPr>
        <p:spPr>
          <a:xfrm>
            <a:off x="2578608" y="237744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BE7D6"/>
          </a:solidFill>
          <a:ln w="12700">
            <a:solidFill>
              <a:srgbClr val="FBE7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78608" y="23774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癌前病變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62272" y="2606040"/>
            <a:ext cx="182880" cy="274320"/>
          </a:xfrm>
          <a:prstGeom prst="chevron">
            <a:avLst/>
          </a:prstGeom>
          <a:solidFill>
            <a:srgbClr val="B98A9A"/>
          </a:solidFill>
          <a:ln w="12700">
            <a:solidFill>
              <a:srgbClr val="B98A9A"/>
            </a:solidFill>
            <a:prstDash val="solid"/>
          </a:ln>
        </p:spPr>
      </p:sp>
      <p:sp>
        <p:nvSpPr>
          <p:cNvPr id="11" name="step-2"/>
          <p:cNvSpPr/>
          <p:nvPr/>
        </p:nvSpPr>
        <p:spPr>
          <a:xfrm>
            <a:off x="4700016" y="237744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00016" y="23774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早期癌 (1–2 期)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0" y="2606040"/>
            <a:ext cx="182880" cy="274320"/>
          </a:xfrm>
          <a:prstGeom prst="chevron">
            <a:avLst/>
          </a:prstGeom>
          <a:solidFill>
            <a:srgbClr val="B98A9A"/>
          </a:solidFill>
          <a:ln w="12700">
            <a:solidFill>
              <a:srgbClr val="B98A9A"/>
            </a:solidFill>
            <a:prstDash val="solid"/>
          </a:ln>
        </p:spPr>
      </p:sp>
      <p:sp>
        <p:nvSpPr>
          <p:cNvPr id="14" name="step-3"/>
          <p:cNvSpPr/>
          <p:nvPr/>
        </p:nvSpPr>
        <p:spPr>
          <a:xfrm>
            <a:off x="6821424" y="237744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E9C9D3"/>
          </a:solidFill>
          <a:ln w="12700">
            <a:solidFill>
              <a:srgbClr val="E9C9D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21424" y="23774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晚期癌 (3–4 期)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癌前病變：白斑、紅斑、口腔黏膜下纖維化、疣狀增生、扁平苔癬 —— 及早發現就能阻止惡化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703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分期：依 TNM（腫瘤大小 T、淋巴結 N、遠處轉移 M）分為 0–4 期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統計範圍：國健署癌症登記的「口腔癌」含口咽、下咽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資料來源：臺北榮總 口腔癌治療準則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7A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台灣每年 8 千多人罹患口腔癌</a:t>
            </a:r>
            <a:endParaRPr lang="en-US" sz="2800" dirty="0"/>
          </a:p>
        </p:txBody>
      </p:sp>
      <p:sp>
        <p:nvSpPr>
          <p:cNvPr id="3" name="stat-0"/>
          <p:cNvSpPr/>
          <p:nvPr/>
        </p:nvSpPr>
        <p:spPr>
          <a:xfrm>
            <a:off x="457200" y="118872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17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8,522</a:t>
            </a:r>
            <a:pPr algn="ctr" indent="0" marL="0">
              <a:buNone/>
            </a:pPr>
            <a:r>
              <a:rPr lang="en-US" sz="1600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人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3317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112 年新發生人數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（全癌第 6 位）</a:t>
            </a:r>
            <a:endParaRPr lang="en-US" sz="1300" dirty="0"/>
          </a:p>
        </p:txBody>
      </p:sp>
      <p:sp>
        <p:nvSpPr>
          <p:cNvPr id="6" name="stat-1"/>
          <p:cNvSpPr/>
          <p:nvPr/>
        </p:nvSpPr>
        <p:spPr>
          <a:xfrm>
            <a:off x="2560320" y="118872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EFE7EA"/>
          </a:solidFill>
          <a:ln w="12700">
            <a:solidFill>
              <a:srgbClr val="EFE7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417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3,697</a:t>
            </a:r>
            <a:pPr algn="ctr" indent="0" marL="0">
              <a:buNone/>
            </a:pPr>
            <a:r>
              <a:rPr lang="en-US" sz="16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人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3317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114 年死亡人數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（癌症死因第 6 位）</a:t>
            </a:r>
            <a:endParaRPr lang="en-US" sz="1300" dirty="0"/>
          </a:p>
        </p:txBody>
      </p:sp>
      <p:sp>
        <p:nvSpPr>
          <p:cNvPr id="9" name="stat-2"/>
          <p:cNvSpPr/>
          <p:nvPr/>
        </p:nvSpPr>
        <p:spPr>
          <a:xfrm>
            <a:off x="4663440" y="118872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417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4</a:t>
            </a:r>
            <a:pPr algn="ctr" indent="0" marL="0">
              <a:buNone/>
            </a:pPr>
            <a:r>
              <a:rPr lang="en-US" sz="1600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位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3317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男性十大癌症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（男性 7,641 人）</a:t>
            </a:r>
            <a:endParaRPr lang="en-US" sz="1300" dirty="0"/>
          </a:p>
        </p:txBody>
      </p:sp>
      <p:sp>
        <p:nvSpPr>
          <p:cNvPr id="12" name="stat-3"/>
          <p:cNvSpPr/>
          <p:nvPr/>
        </p:nvSpPr>
        <p:spPr>
          <a:xfrm>
            <a:off x="6766560" y="118872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E3F2EF"/>
          </a:solidFill>
          <a:ln w="12700">
            <a:solidFill>
              <a:srgbClr val="E3F2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417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60</a:t>
            </a:r>
            <a:pPr algn="ctr" indent="0" marL="0">
              <a:buNone/>
            </a:pPr>
            <a:r>
              <a:rPr lang="en-US" sz="1600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歲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3317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發生年齡中位數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（112 年）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114 年口腔癌標準化死亡率較 113 年下降；每十萬人口死亡率 15.8 人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資料來源：國健署 112 年癌症登記報告（2025 公布）；衛福部 114 年死因統計（2026 公布）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7A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患者約 9 成是男性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40233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846320" y="12801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7,641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4846320" y="2011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112 年男性口腔癌新發生人數，較 111 年增加 169 人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27432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男性患者逾 8 成吸菸、約 7 成嚼檳榔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好發於中壯年，常是家庭經濟支柱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資料來源：國健署 112 年癌症登記報告（女性人數 = 8,522 − 7,641）；國健署新聞稿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7A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檳榔、菸、酒：風險層層加乘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4572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iarc-card"/>
          <p:cNvSpPr/>
          <p:nvPr/>
        </p:nvSpPr>
        <p:spPr>
          <a:xfrm>
            <a:off x="5303520" y="1143000"/>
            <a:ext cx="3383280" cy="3246120"/>
          </a:xfrm>
          <a:prstGeom prst="roundRect">
            <a:avLst>
              <a:gd name="adj" fmla="val 2254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0" y="12801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檳榔本身就是一級致癌物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0" y="173736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IARC 將檳榔子列為第一級致癌物，不加紅灰、白灰、荖葉一樣致癌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檳榔纖維反覆摩擦黏膜造成傷口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其他：HPV（口咽癌）、不合適假牙、口腔衛生不良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資料來源：葛應欽等（1995）台灣口腔癌與嚼檳榔、吸菸、酒精之關聯，引自國軍衛教資料；國健署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7A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誰是高危險群</a:t>
            </a:r>
            <a:endParaRPr lang="en-US" sz="2800" dirty="0"/>
          </a:p>
        </p:txBody>
      </p:sp>
      <p:sp>
        <p:nvSpPr>
          <p:cNvPr id="3" name="risk-0"/>
          <p:cNvSpPr/>
          <p:nvPr/>
        </p:nvSpPr>
        <p:spPr>
          <a:xfrm>
            <a:off x="457200" y="114300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07592"/>
            <a:ext cx="585216" cy="585216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453896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5272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30 歲以上吸菸或嚼檳榔者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163677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含已戒檳榔者</a:t>
            </a:r>
            <a:endParaRPr lang="en-US" sz="1200" dirty="0"/>
          </a:p>
        </p:txBody>
      </p:sp>
      <p:sp>
        <p:nvSpPr>
          <p:cNvPr id="8" name="risk-1"/>
          <p:cNvSpPr/>
          <p:nvPr/>
        </p:nvSpPr>
        <p:spPr>
          <a:xfrm>
            <a:off x="4663440" y="114300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07592"/>
            <a:ext cx="585216" cy="585216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4" y="145389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25272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 歲以上嚼檳榔原住民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577840" y="163677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含已戒檳榔者</a:t>
            </a:r>
            <a:endParaRPr lang="en-US" sz="1200" dirty="0"/>
          </a:p>
        </p:txBody>
      </p:sp>
      <p:sp>
        <p:nvSpPr>
          <p:cNvPr id="13" name="risk-2"/>
          <p:cNvSpPr/>
          <p:nvPr/>
        </p:nvSpPr>
        <p:spPr>
          <a:xfrm>
            <a:off x="457200" y="224028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4F1F2"/>
          </a:solidFill>
          <a:ln w="12700">
            <a:solidFill>
              <a:srgbClr val="F4F1F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" y="2404872"/>
            <a:ext cx="585216" cy="585216"/>
          </a:xfrm>
          <a:prstGeom prst="ellipse">
            <a:avLst/>
          </a:prstGeom>
          <a:solidFill>
            <a:srgbClr val="6B5B62"/>
          </a:solidFill>
          <a:ln w="12700">
            <a:solidFill>
              <a:srgbClr val="6B5B6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2551176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235000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中壯年男性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27340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9 成患者為男性</a:t>
            </a:r>
            <a:endParaRPr lang="en-US" sz="1200" dirty="0"/>
          </a:p>
        </p:txBody>
      </p:sp>
      <p:sp>
        <p:nvSpPr>
          <p:cNvPr id="18" name="risk-3"/>
          <p:cNvSpPr/>
          <p:nvPr/>
        </p:nvSpPr>
        <p:spPr>
          <a:xfrm>
            <a:off x="4663440" y="224028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4F1F2"/>
          </a:solidFill>
          <a:ln w="12700">
            <a:solidFill>
              <a:srgbClr val="F4F1F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46320" y="2404872"/>
            <a:ext cx="585216" cy="585216"/>
          </a:xfrm>
          <a:prstGeom prst="ellipse">
            <a:avLst/>
          </a:prstGeom>
          <a:solidFill>
            <a:srgbClr val="6B5B62"/>
          </a:solidFill>
          <a:ln w="12700">
            <a:solidFill>
              <a:srgbClr val="6B5B62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2624" y="2551176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77840" y="235000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菸、酒、檳榔多重使用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577840" y="27340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風險加乘最高</a:t>
            </a:r>
            <a:endParaRPr lang="en-US" sz="1200" dirty="0"/>
          </a:p>
        </p:txBody>
      </p:sp>
      <p:sp>
        <p:nvSpPr>
          <p:cNvPr id="23" name="risk-4"/>
          <p:cNvSpPr/>
          <p:nvPr/>
        </p:nvSpPr>
        <p:spPr>
          <a:xfrm>
            <a:off x="457200" y="333756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4F1F2"/>
          </a:solidFill>
          <a:ln w="12700">
            <a:solidFill>
              <a:srgbClr val="F4F1F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40080" y="3502152"/>
            <a:ext cx="585216" cy="585216"/>
          </a:xfrm>
          <a:prstGeom prst="ellipse">
            <a:avLst/>
          </a:prstGeom>
          <a:solidFill>
            <a:srgbClr val="6B5B62"/>
          </a:solidFill>
          <a:ln w="12700">
            <a:solidFill>
              <a:srgbClr val="6B5B6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3648456"/>
            <a:ext cx="292608" cy="29260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371600" y="344728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需長時間提神的勞動工作者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1371600" y="383133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如貨運司機、建築工</a:t>
            </a:r>
            <a:endParaRPr lang="en-US" sz="1200" dirty="0"/>
          </a:p>
        </p:txBody>
      </p:sp>
      <p:sp>
        <p:nvSpPr>
          <p:cNvPr id="28" name="risk-5"/>
          <p:cNvSpPr/>
          <p:nvPr/>
        </p:nvSpPr>
        <p:spPr>
          <a:xfrm>
            <a:off x="4663440" y="333756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4F1F2"/>
          </a:solidFill>
          <a:ln w="12700">
            <a:solidFill>
              <a:srgbClr val="F4F1F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4846320" y="3502152"/>
            <a:ext cx="585216" cy="585216"/>
          </a:xfrm>
          <a:prstGeom prst="ellipse">
            <a:avLst/>
          </a:prstGeom>
          <a:solidFill>
            <a:srgbClr val="6B5B62"/>
          </a:solidFill>
          <a:ln w="12700">
            <a:solidFill>
              <a:srgbClr val="6B5B62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3648456"/>
            <a:ext cx="292608" cy="29260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5577840" y="344728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已有癌前病變或頭頸癌病史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5577840" y="383133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白斑、紅斑、黏膜下纖維化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資料來源：國健署口腔黏膜檢查補助資格；國健署 112 年癌症登記報告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7A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五大警訊：破、斑、硬、突、腫</a:t>
            </a:r>
            <a:endParaRPr lang="en-US" sz="2800" dirty="0"/>
          </a:p>
        </p:txBody>
      </p:sp>
      <p:sp>
        <p:nvSpPr>
          <p:cNvPr id="3" name="sx-0"/>
          <p:cNvSpPr/>
          <p:nvPr/>
        </p:nvSpPr>
        <p:spPr>
          <a:xfrm>
            <a:off x="457200" y="1143000"/>
            <a:ext cx="1517904" cy="2331720"/>
          </a:xfrm>
          <a:prstGeom prst="roundRect">
            <a:avLst>
              <a:gd name="adj" fmla="val 4819"/>
            </a:avLst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15179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破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40280"/>
            <a:ext cx="12435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黏膜破皮、潰瘍超過兩週未癒合</a:t>
            </a:r>
            <a:endParaRPr lang="en-US" sz="1300" dirty="0"/>
          </a:p>
        </p:txBody>
      </p:sp>
      <p:sp>
        <p:nvSpPr>
          <p:cNvPr id="6" name="sx-1"/>
          <p:cNvSpPr/>
          <p:nvPr/>
        </p:nvSpPr>
        <p:spPr>
          <a:xfrm>
            <a:off x="2139696" y="1143000"/>
            <a:ext cx="1517904" cy="2331720"/>
          </a:xfrm>
          <a:prstGeom prst="roundRect">
            <a:avLst>
              <a:gd name="adj" fmla="val 4819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39696" y="1280160"/>
            <a:ext cx="15179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斑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2276856" y="2240280"/>
            <a:ext cx="12435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出現不明原因的白斑或紅斑</a:t>
            </a:r>
            <a:endParaRPr lang="en-US" sz="1300" dirty="0"/>
          </a:p>
        </p:txBody>
      </p:sp>
      <p:sp>
        <p:nvSpPr>
          <p:cNvPr id="9" name="sx-2"/>
          <p:cNvSpPr/>
          <p:nvPr/>
        </p:nvSpPr>
        <p:spPr>
          <a:xfrm>
            <a:off x="3822192" y="1143000"/>
            <a:ext cx="1517904" cy="2331720"/>
          </a:xfrm>
          <a:prstGeom prst="roundRect">
            <a:avLst>
              <a:gd name="adj" fmla="val 4819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1280160"/>
            <a:ext cx="15179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硬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3959352" y="2240280"/>
            <a:ext cx="12435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黏膜變硬變緊，嘴巴張不開</a:t>
            </a:r>
            <a:endParaRPr lang="en-US" sz="1300" dirty="0"/>
          </a:p>
        </p:txBody>
      </p:sp>
      <p:sp>
        <p:nvSpPr>
          <p:cNvPr id="12" name="sx-3"/>
          <p:cNvSpPr/>
          <p:nvPr/>
        </p:nvSpPr>
        <p:spPr>
          <a:xfrm>
            <a:off x="5504688" y="1143000"/>
            <a:ext cx="1517904" cy="2331720"/>
          </a:xfrm>
          <a:prstGeom prst="roundRect">
            <a:avLst>
              <a:gd name="adj" fmla="val 4819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4688" y="1280160"/>
            <a:ext cx="15179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突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5641848" y="2240280"/>
            <a:ext cx="12435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表面不規則突起（乳突或疣狀）</a:t>
            </a:r>
            <a:endParaRPr lang="en-US" sz="1300" dirty="0"/>
          </a:p>
        </p:txBody>
      </p:sp>
      <p:sp>
        <p:nvSpPr>
          <p:cNvPr id="15" name="sx-4"/>
          <p:cNvSpPr/>
          <p:nvPr/>
        </p:nvSpPr>
        <p:spPr>
          <a:xfrm>
            <a:off x="7187184" y="1143000"/>
            <a:ext cx="1517904" cy="2331720"/>
          </a:xfrm>
          <a:prstGeom prst="roundRect">
            <a:avLst>
              <a:gd name="adj" fmla="val 4819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87184" y="1280160"/>
            <a:ext cx="15179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腫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7324344" y="2240280"/>
            <a:ext cx="12435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臉或頸部腫塊、兩側不對稱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其他症狀：口腔出血或麻木、牙齒鬆動、吞嚥或說話困難、持續口臭、體重減輕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050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早期常不痛，容易被當成一般嘴破而延誤就醫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資料來源：衛福部國健署「破斑硬突腫」口腔癌警訊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7A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預防：拒菸檳、定期篩、早治療</a:t>
            </a:r>
            <a:endParaRPr lang="en-US" sz="2800" dirty="0"/>
          </a:p>
        </p:txBody>
      </p:sp>
      <p:sp>
        <p:nvSpPr>
          <p:cNvPr id="3" name="prev-0"/>
          <p:cNvSpPr/>
          <p:nvPr/>
        </p:nvSpPr>
        <p:spPr>
          <a:xfrm>
            <a:off x="457200" y="114300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98448"/>
            <a:ext cx="548640" cy="54864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3560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29844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拒菸檳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65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不嚼檳榔、不吸菸、少喝酒；戒檳 10 年風險可降 17%–51%</a:t>
            </a:r>
            <a:endParaRPr lang="en-US" sz="1300" dirty="0"/>
          </a:p>
        </p:txBody>
      </p:sp>
      <p:sp>
        <p:nvSpPr>
          <p:cNvPr id="8" name="prev-1"/>
          <p:cNvSpPr/>
          <p:nvPr/>
        </p:nvSpPr>
        <p:spPr>
          <a:xfrm>
            <a:off x="3246120" y="114300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3F2EF"/>
          </a:solidFill>
          <a:ln w="12700">
            <a:solidFill>
              <a:srgbClr val="E3F2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29000" y="1298448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43560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114800" y="129844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定期篩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1965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公費口腔黏膜檢查，每 2 年 1 次，約 3 分鐘</a:t>
            </a:r>
            <a:endParaRPr lang="en-US" sz="1300" dirty="0"/>
          </a:p>
        </p:txBody>
      </p:sp>
      <p:sp>
        <p:nvSpPr>
          <p:cNvPr id="13" name="prev-2"/>
          <p:cNvSpPr/>
          <p:nvPr/>
        </p:nvSpPr>
        <p:spPr>
          <a:xfrm>
            <a:off x="6035040" y="114300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17920" y="1298448"/>
            <a:ext cx="548640" cy="548640"/>
          </a:xfrm>
          <a:prstGeom prst="ellipse">
            <a:avLst/>
          </a:prstGeom>
          <a:solidFill>
            <a:srgbClr val="2A1520"/>
          </a:solidFill>
          <a:ln w="12700">
            <a:solidFill>
              <a:srgbClr val="2A152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3560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03720" y="129844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早治療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1965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篩檢陽性就轉介切片確診，及早治療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31546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-26%</a:t>
            </a:r>
            <a:pPr indent="0" marL="0">
              <a:buNone/>
            </a:pPr>
            <a:r>
              <a:rPr lang="en-US" sz="15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口腔癌死亡風險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4663440" y="31546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-21%</a:t>
            </a:r>
            <a:pPr indent="0" marL="0">
              <a:buNone/>
            </a:pPr>
            <a:r>
              <a:rPr lang="en-US" sz="15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晚期口腔癌發生風險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定期口腔黏膜檢查的成效；篩檢發現的病變約 77% 為癌前病變或 0–1 期早期癌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資料來源：衛福部「定期口腔黏膜檢查 降低 26% 死亡風險」（引臺大研究）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7A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公費口腔黏膜檢查與最新政策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47548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657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補助對象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 歲以上嚼檳榔（含已戒）或吸菸者；18 歲以上嚼檳榔（含已戒）原住民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頻率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 2 年 1 次，免費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地點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帶健保卡到健保特約牙科或耳鼻喉科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成果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每輪約找出近 3,000 名癌前病變、1,000 多名口腔癌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policy-card"/>
          <p:cNvSpPr/>
          <p:nvPr/>
        </p:nvSpPr>
        <p:spPr>
          <a:xfrm>
            <a:off x="5486400" y="1143000"/>
            <a:ext cx="3200400" cy="3200400"/>
          </a:xfrm>
          <a:prstGeom prst="roundRect">
            <a:avLst>
              <a:gd name="adj" fmla="val 2286"/>
            </a:avLst>
          </a:prstGeom>
          <a:solidFill>
            <a:srgbClr val="E3F2EF"/>
          </a:solidFill>
          <a:ln w="12700">
            <a:solidFill>
              <a:srgbClr val="E3F2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69280" y="12618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政策動態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669280" y="1691640"/>
            <a:ext cx="2834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114 年起擴大癌篩；115 年元旦納入胃癌成「六癌篩檢」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113 年五癌篩檢約 481.2 萬人次，找出 50,712 例癌前病變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《檳榔健康危害防制法》草案 113/12 預告，2026 年仍未送立法院，監察院已糾正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資料來源：國健署新聞稿；IQ 健康網（2026 癌篩）；聯合報、工商時報（2026）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7A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主要治療方式</a:t>
            </a:r>
            <a:endParaRPr lang="en-US" sz="2800" dirty="0"/>
          </a:p>
        </p:txBody>
      </p:sp>
      <p:sp>
        <p:nvSpPr>
          <p:cNvPr id="3" name="tx-0"/>
          <p:cNvSpPr/>
          <p:nvPr/>
        </p:nvSpPr>
        <p:spPr>
          <a:xfrm>
            <a:off x="457200" y="11430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07592"/>
            <a:ext cx="502920" cy="50292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522" y="1433322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3075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手術切除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8928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首選；切除腫瘤＋頸部淋巴結廓清，以皮瓣重建</a:t>
            </a:r>
            <a:endParaRPr lang="en-US" sz="1200" dirty="0"/>
          </a:p>
        </p:txBody>
      </p:sp>
      <p:sp>
        <p:nvSpPr>
          <p:cNvPr id="8" name="tx-1"/>
          <p:cNvSpPr/>
          <p:nvPr/>
        </p:nvSpPr>
        <p:spPr>
          <a:xfrm>
            <a:off x="3246120" y="11430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10712" y="1307592"/>
            <a:ext cx="502920" cy="50292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442" y="1433322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3360" y="13075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放射治療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10712" y="18928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術後輔助或無法手術者；副作用：口乾、黏膜炎</a:t>
            </a:r>
            <a:endParaRPr lang="en-US" sz="1200" dirty="0"/>
          </a:p>
        </p:txBody>
      </p:sp>
      <p:sp>
        <p:nvSpPr>
          <p:cNvPr id="13" name="tx-2"/>
          <p:cNvSpPr/>
          <p:nvPr/>
        </p:nvSpPr>
        <p:spPr>
          <a:xfrm>
            <a:off x="6035040" y="11430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99632" y="1307592"/>
            <a:ext cx="502920" cy="50292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5362" y="1433322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12280" y="13075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同步化放療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199632" y="18928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術後高復發風險或局部晚期；常用順鉑</a:t>
            </a:r>
            <a:endParaRPr lang="en-US" sz="1200" dirty="0"/>
          </a:p>
        </p:txBody>
      </p:sp>
      <p:sp>
        <p:nvSpPr>
          <p:cNvPr id="18" name="tx-3"/>
          <p:cNvSpPr/>
          <p:nvPr/>
        </p:nvSpPr>
        <p:spPr>
          <a:xfrm>
            <a:off x="457200" y="27432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4F1F2"/>
          </a:solidFill>
          <a:ln w="12700">
            <a:solidFill>
              <a:srgbClr val="F4F1F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21792" y="2907792"/>
            <a:ext cx="502920" cy="502920"/>
          </a:xfrm>
          <a:prstGeom prst="ellipse">
            <a:avLst/>
          </a:prstGeom>
          <a:solidFill>
            <a:srgbClr val="6B5B62"/>
          </a:solidFill>
          <a:ln w="12700">
            <a:solidFill>
              <a:srgbClr val="6B5B62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522" y="3033522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34440" y="2907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化學治療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21792" y="34930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晚期、復發或轉移的全身治療</a:t>
            </a:r>
            <a:endParaRPr lang="en-US" sz="1200" dirty="0"/>
          </a:p>
        </p:txBody>
      </p:sp>
      <p:sp>
        <p:nvSpPr>
          <p:cNvPr id="23" name="tx-4"/>
          <p:cNvSpPr/>
          <p:nvPr/>
        </p:nvSpPr>
        <p:spPr>
          <a:xfrm>
            <a:off x="3246120" y="27432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4F1F2"/>
          </a:solidFill>
          <a:ln w="12700">
            <a:solidFill>
              <a:srgbClr val="F4F1F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3410712" y="2907792"/>
            <a:ext cx="502920" cy="502920"/>
          </a:xfrm>
          <a:prstGeom prst="ellipse">
            <a:avLst/>
          </a:prstGeom>
          <a:solidFill>
            <a:srgbClr val="6B5B62"/>
          </a:solidFill>
          <a:ln w="12700">
            <a:solidFill>
              <a:srgbClr val="6B5B6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6442" y="3033522"/>
            <a:ext cx="251460" cy="2514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23360" y="2907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標靶治療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3410712" y="34930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抗 EGFR 藥物 cetuximab，合併化放療</a:t>
            </a:r>
            <a:endParaRPr lang="en-US" sz="1200" dirty="0"/>
          </a:p>
        </p:txBody>
      </p:sp>
      <p:sp>
        <p:nvSpPr>
          <p:cNvPr id="28" name="tx-5"/>
          <p:cNvSpPr/>
          <p:nvPr/>
        </p:nvSpPr>
        <p:spPr>
          <a:xfrm>
            <a:off x="6035040" y="27432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4F1F2"/>
          </a:solidFill>
          <a:ln w="12700">
            <a:solidFill>
              <a:srgbClr val="F4F1F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199632" y="2907792"/>
            <a:ext cx="502920" cy="502920"/>
          </a:xfrm>
          <a:prstGeom prst="ellipse">
            <a:avLst/>
          </a:prstGeom>
          <a:solidFill>
            <a:srgbClr val="6B5B62"/>
          </a:solidFill>
          <a:ln w="12700">
            <a:solidFill>
              <a:srgbClr val="6B5B62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5362" y="3033522"/>
            <a:ext cx="251460" cy="2514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12280" y="2907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免疫治療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6199632" y="34930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PD-1 抑制劑；健保第一線以 CPS ≥ 20 為主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資料來源：臺北榮總口腔癌治療準則；臺大醫院健康電子報；聯合報（免疫治療給付）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7A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越早發現，存活率越高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49377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669280" y="12801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成以上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669280" y="20116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早期口腔癌五年存活率（國健署相關研究）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669280" y="28346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頭頸癌超過 7 成確診時已是第三期以上（新竹臺大分院醫師，2026）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資料來源：NOWnews、TVBS 醫師訪談（各院數字略有差異，第 1 期取 80%–90% 中間值）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7A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新聞實例</a:t>
            </a:r>
            <a:endParaRPr lang="en-US" sz="2800" dirty="0"/>
          </a:p>
        </p:txBody>
      </p:sp>
      <p:sp>
        <p:nvSpPr>
          <p:cNvPr id="3" name="news-0"/>
          <p:cNvSpPr/>
          <p:nvPr/>
        </p:nvSpPr>
        <p:spPr>
          <a:xfrm>
            <a:off x="457200" y="11430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527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2026/06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286000" y="1252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聯合報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監察院糾正行政院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4767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《檳榔健康危害防制法》草案延宕近 5 年仍未送立法院</a:t>
            </a:r>
            <a:endParaRPr lang="en-US" sz="1300" dirty="0"/>
          </a:p>
        </p:txBody>
      </p:sp>
      <p:sp>
        <p:nvSpPr>
          <p:cNvPr id="8" name="news-1"/>
          <p:cNvSpPr/>
          <p:nvPr/>
        </p:nvSpPr>
        <p:spPr>
          <a:xfrm>
            <a:off x="4663440" y="11430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2527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2026/03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1252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TVBS 健康 2+1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45 歲男長期菸檳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94767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醫師：頭頸癌以口腔癌最多，逾 7 成確診已第三期以上</a:t>
            </a:r>
            <a:endParaRPr lang="en-US" sz="1300" dirty="0"/>
          </a:p>
        </p:txBody>
      </p:sp>
      <p:sp>
        <p:nvSpPr>
          <p:cNvPr id="13" name="news-2"/>
          <p:cNvSpPr/>
          <p:nvPr/>
        </p:nvSpPr>
        <p:spPr>
          <a:xfrm>
            <a:off x="457200" y="28346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29443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2025/09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286000" y="29443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TVBS 健康 2+1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藝人江國賓口腔腫瘤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3931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年輕時吸菸嚼檳榔，切片為良性並切除；醫師提醒需終生追蹤</a:t>
            </a:r>
            <a:endParaRPr lang="en-US" sz="1300" dirty="0"/>
          </a:p>
        </p:txBody>
      </p:sp>
      <p:sp>
        <p:nvSpPr>
          <p:cNvPr id="18" name="news-3"/>
          <p:cNvSpPr/>
          <p:nvPr/>
        </p:nvSpPr>
        <p:spPr>
          <a:xfrm>
            <a:off x="4663440" y="28346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6E6EB"/>
          </a:solidFill>
          <a:ln w="12700">
            <a:solidFill>
              <a:srgbClr val="F6E6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9443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2020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29443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TVBS 新聞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84632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嘴破 2 個月沒好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63931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新竹 36 歲男子長期嚼檳提神，自行擦藥，就醫已第四期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7A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小組分工表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429768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組員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負責項目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具體工作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3D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組員 1（組長）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統籌、器官功能與疾病定義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分配進度、彙整書面報告；撰寫構造、功能、定義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組員 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台灣現況統計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查核癌症登記與死因統計最新數字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組員 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成因與高危險群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整理檳榔、菸、酒等危險因子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組員 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症狀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說明「破斑硬突腫」並找示意圖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組員 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預防方法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戒菸檳、公費篩檢與政策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組員 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主要治療方式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手術、放化療、標靶、免疫與存活率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組員 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實例、資料來源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5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挑選新聞影片、核對連結與參考格式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C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請換成真實姓名並依老師規定格式調整；每人另交個人心得 200–300 字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7A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資料來源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政府機關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衛生福利部（2026）。114 年國人死因統計結果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衛生福利部（2025）。113 年國人死因統計結果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國民健康署（2025）。112 年國人癌症登記資料分析結果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國民健康署（2024）。111 年癌症登記報告記者會簡報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國民健康署。口腔癌 2 年 1 篩、114 年起擴大癌症篩檢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衛福部。定期口腔黏膜檢查降低 26% 死亡風險；破斑硬突腫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051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F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醫學中心、研究與新聞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37160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7"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臺北榮民總醫院。口腔癌治療準則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7"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臺大醫院健康電子報 236 期。頭頸癌的治療新趨勢與挑戰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7"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葛應欽等（1995）。口腔癌與嚼檳榔、吸菸、酒精之關聯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7"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聯合報（2026）；工商時報（2026）：檳榔防制專法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7"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TVBS（2020、2025、2026）口腔癌相關報導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7"/>
            </a:pPr>
            <a:r>
              <a:rPr lang="en-US" sz="1300" dirty="0">
                <a:solidFill>
                  <a:srgbClr val="2A15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鏡週刊（2023）；聯合報：健保免疫治療給付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完整網址見書面報告「資料來源」一節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7A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拒菸檳、定期篩、早治療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口腔癌是最容易預防的癌症之一 —— 提醒身邊有菸檳習慣的家人，每 2 年做一次口腔黏膜檢查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223760" y="457200"/>
            <a:ext cx="1097280" cy="10972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731520"/>
            <a:ext cx="548640" cy="548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C3C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謝謝聆聽．Q &amp; A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ral Cancer Report">
  <a:themeElements>
    <a:clrScheme name="Oral Cancer Report">
      <a:dk1>
        <a:srgbClr val="2A1520"/>
      </a:dk1>
      <a:lt1>
        <a:srgbClr val="FFFFFF"/>
      </a:lt1>
      <a:dk2>
        <a:srgbClr val="7A1F3D"/>
      </a:dk2>
      <a:lt2>
        <a:srgbClr val="F6E6EB"/>
      </a:lt2>
      <a:accent1>
        <a:srgbClr val="7A1F3D"/>
      </a:accent1>
      <a:accent2>
        <a:srgbClr val="0F766E"/>
      </a:accent2>
      <a:accent3>
        <a:srgbClr val="C2410C"/>
      </a:accent3>
      <a:accent4>
        <a:srgbClr val="B98A9A"/>
      </a:accent4>
      <a:accent5>
        <a:srgbClr val="4B5563"/>
      </a:accent5>
      <a:accent6>
        <a:srgbClr val="9CA3AF"/>
      </a:accent6>
      <a:hlink>
        <a:srgbClr val="0F766E"/>
      </a:hlink>
      <a:folHlink>
        <a:srgbClr val="7A1F3D"/>
      </a:folHlink>
    </a:clrScheme>
    <a:fontScheme name="Oral Cancer Report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口腔癌 分組報告</dc:title>
  <dc:subject>PptxGenJS Presentation</dc:subject>
  <dc:creator>PptxGenJS</dc:creator>
  <cp:lastModifiedBy>PptxGenJS</cp:lastModifiedBy>
  <cp:revision>1</cp:revision>
  <dcterms:created xsi:type="dcterms:W3CDTF">2026-10-19T04:01:33Z</dcterms:created>
  <dcterms:modified xsi:type="dcterms:W3CDTF">2026-10-19T04:01:33Z</dcterms:modified>
</cp:coreProperties>
</file>