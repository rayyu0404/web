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ad91dbaf-2028-8879-3bb4-b87db46dcbd9}">
          <p14:sldIdLst>
            <p14:sldId id="256"/>
            <p14:sldId id="257"/>
            <p14:sldId id="258"/>
          </p14:sldIdLst>
        </p14:section>
        <p14:section name="器官與定義" id="{4cb77168-74b6-f104-b0a2-e9e04788a958}">
          <p14:sldIdLst>
            <p14:sldId id="259"/>
            <p14:sldId id="260"/>
          </p14:sldIdLst>
        </p14:section>
        <p14:section name="台灣現況" id="{dc03ffeb-15b8-86d0-c719-e44f359e5d9c}">
          <p14:sldIdLst>
            <p14:sldId id="261"/>
            <p14:sldId id="262"/>
          </p14:sldIdLst>
        </p14:section>
        <p14:section name="成因與症狀" id="{70f44283-82cb-7750-d5b0-ae729c90dd33}">
          <p14:sldIdLst>
            <p14:sldId id="263"/>
            <p14:sldId id="264"/>
            <p14:sldId id="265"/>
          </p14:sldIdLst>
        </p14:section>
        <p14:section name="預防與治療" id="{922f6b02-3474-28c6-e388-e11d36f6de73}">
          <p14:sldIdLst>
            <p14:sldId id="266"/>
            <p14:sldId id="267"/>
            <p14:sldId id="268"/>
            <p14:sldId id="269"/>
          </p14:sldIdLst>
        </p14:section>
        <p14:section name="實例" id="{ac2a7235-e24e-298a-1fba-6c9572357a70}">
          <p14:sldIdLst>
            <p14:sldId id="270"/>
          </p14:sldIdLst>
        </p14:section>
        <p14:section name="分工與來源" id="{55fdf93a-c3d1-a634-ba0b-23e5cf282846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112 年口腔癌新發生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A1F3D"/>
              </a:solidFill>
              <a:effectLst/>
            </c:spPr>
          </c:dPt>
          <c:dPt>
            <c:idx val="1"/>
            <c:bubble3D val="0"/>
            <c:spPr>
              <a:solidFill>
                <a:srgbClr val="D8B4C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男性</c:v>
                </c:pt>
                <c:pt idx="1">
                  <c:v>女性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7641</c:v>
                </c:pt>
                <c:pt idx="1">
                  <c:v>881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B6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B5B62"/>
                </a:solidFill>
                <a:latin typeface="+mn-lt"/>
              </a:rPr>
              <a:t>得口腔癌的機會是一般人的幾倍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相對風險（倍）</c:v>
                </c:pt>
              </c:strCache>
            </c:strRef>
          </c:tx>
          <c:spPr>
            <a:solidFill>
              <a:srgbClr val="D8B4C1"/>
            </a:solidFill>
            <a:effectLst/>
          </c:spPr>
          <c:invertIfNegative val="0"/>
          <c:dLbls>
            <c:numFmt formatCode="0&quot;倍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5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8B4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8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1F3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嚼檳榔</c:v>
                  </c:pt>
                  <c:pt idx="1">
                    <c:v>檳榔＋吸菸</c:v>
                  </c:pt>
                  <c:pt idx="2">
                    <c:v>檳榔＋菸＋酒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89</c:v>
                </c:pt>
                <c:pt idx="2">
                  <c:v>123</c:v>
                </c:pt>
              </c:numCache>
            </c:numRef>
          </c:val>
        </c:ser>
        <c:dLbls>
          <c:numFmt formatCode="0&quot;倍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2A15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15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B6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B5B62"/>
                </a:solidFill>
                <a:latin typeface="+mn-lt"/>
              </a:rPr>
              <a:t>每 100 位病人中，活超過 5 年的人數（大約值）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五年存活率（%）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&quot;人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5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FA3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8A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1F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第 1 期</c:v>
                  </c:pt>
                  <c:pt idx="1">
                    <c:v>第 2 期</c:v>
                  </c:pt>
                  <c:pt idx="2">
                    <c:v>第 3 期</c:v>
                  </c:pt>
                  <c:pt idx="3">
                    <c:v>第 4 期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70</c:v>
                </c:pt>
                <c:pt idx="2">
                  <c:v>60</c:v>
                </c:pt>
                <c:pt idx="3">
                  <c:v>30</c:v>
                </c:pt>
              </c:numCache>
            </c:numRef>
          </c:val>
        </c:ser>
        <c:dLbls>
          <c:numFmt formatCode="0&quot;人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2A15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15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開場：介紹組員與題目。口腔癌是台灣男性第 4 大癌症，也是最容易預防的癌症之一。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口腔不只用來吃東西，也負責說話與防禦。口腔癌手術常影響咀嚼、吞嚥與說話，因此對生活品質衝擊很大。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癌症登記最新為 112 年資料，死因統計最新為 114 年資料。口腔癌新發 8,522 人，比 111 年多 172 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28/89/123 倍出自 1995 年台灣研究，屬經典但較舊的數據；國健署 2022 年另指出嚼檳榔加菸酒，上呼吸消化道癌風險高 10.5 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江國賓案例部分媒體標題寫「口腔癌」，但實際切片為良性腫瘤，報告時請正確說明。影片：可到國健署 YouTube 頻道搜尋「口腔癌篩檢」挑一部 3 分鐘內的影片播放。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82"/>
                </a:solidFill>
              </a:rPr>
              <a:t>口腔癌 分組報告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口腔癌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認識台灣男性第 4 大癌症：成因、症狀、預防與治療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457200"/>
            <a:ext cx="1097280" cy="109728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31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3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組員：＿＿＿、＿＿＿、＿＿＿、＿＿＿、＿＿＿、＿＿＿、＿＿＿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報告大綱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器官基本功能與疾病定義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台灣現況統計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68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成因與高危險群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症狀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749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預防方法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主要治療方式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63440" y="1828800"/>
            <a:ext cx="457200" cy="45720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實例：新聞報導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63440" y="24688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2468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663440" y="3108960"/>
            <a:ext cx="457200" cy="45720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小組分工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一分鐘看懂口腔癌</a:t>
            </a:r>
            <a:endParaRPr lang="en-US" sz="2800" dirty="0"/>
          </a:p>
        </p:txBody>
      </p:sp>
      <p:sp>
        <p:nvSpPr>
          <p:cNvPr id="3" name="quick-0"/>
          <p:cNvSpPr/>
          <p:nvPr/>
        </p:nvSpPr>
        <p:spPr>
          <a:xfrm>
            <a:off x="457200" y="11430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516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是什麼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長在嘴巴裡的癌症</a:t>
            </a:r>
            <a:endParaRPr lang="en-US" sz="1500" dirty="0"/>
          </a:p>
        </p:txBody>
      </p:sp>
      <p:sp>
        <p:nvSpPr>
          <p:cNvPr id="8" name="quick-1"/>
          <p:cNvSpPr/>
          <p:nvPr/>
        </p:nvSpPr>
        <p:spPr>
          <a:xfrm>
            <a:off x="3246120" y="11430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325880"/>
            <a:ext cx="502920" cy="50292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14516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多常見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每年約 8,500 人得病</a:t>
            </a:r>
            <a:endParaRPr lang="en-US" sz="1500" dirty="0"/>
          </a:p>
        </p:txBody>
      </p:sp>
      <p:sp>
        <p:nvSpPr>
          <p:cNvPr id="13" name="quick-2"/>
          <p:cNvSpPr/>
          <p:nvPr/>
        </p:nvSpPr>
        <p:spPr>
          <a:xfrm>
            <a:off x="6035040" y="11430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325880"/>
            <a:ext cx="502920" cy="50292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4516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誰最危險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吃檳榔、抽菸、喝酒的人</a:t>
            </a:r>
            <a:endParaRPr lang="en-US" sz="1500" dirty="0"/>
          </a:p>
        </p:txBody>
      </p:sp>
      <p:sp>
        <p:nvSpPr>
          <p:cNvPr id="18" name="quick-3"/>
          <p:cNvSpPr/>
          <p:nvPr/>
        </p:nvSpPr>
        <p:spPr>
          <a:xfrm>
            <a:off x="457200" y="27889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09753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怎麼發現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嘴破兩週沒好就要看醫生</a:t>
            </a:r>
            <a:endParaRPr lang="en-US" sz="1500" dirty="0"/>
          </a:p>
        </p:txBody>
      </p:sp>
      <p:sp>
        <p:nvSpPr>
          <p:cNvPr id="23" name="quick-4"/>
          <p:cNvSpPr/>
          <p:nvPr/>
        </p:nvSpPr>
        <p:spPr>
          <a:xfrm>
            <a:off x="3246120" y="27889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29000" y="297180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730" y="309753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怎麼預防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戒菸檳＋每 2 年免費檢查</a:t>
            </a:r>
            <a:endParaRPr lang="en-US" sz="1500" dirty="0"/>
          </a:p>
        </p:txBody>
      </p:sp>
      <p:sp>
        <p:nvSpPr>
          <p:cNvPr id="28" name="quick-5"/>
          <p:cNvSpPr/>
          <p:nvPr/>
        </p:nvSpPr>
        <p:spPr>
          <a:xfrm>
            <a:off x="6035040" y="27889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17920" y="297180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650" y="309753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好消息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早發現，8 成以上能治好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嘴巴每天幫我們做很多事</a:t>
            </a:r>
            <a:endParaRPr lang="en-US" sz="2800" dirty="0"/>
          </a:p>
        </p:txBody>
      </p:sp>
      <p:sp>
        <p:nvSpPr>
          <p:cNvPr id="3" name="parts-card"/>
          <p:cNvSpPr/>
          <p:nvPr/>
        </p:nvSpPr>
        <p:spPr>
          <a:xfrm>
            <a:off x="457200" y="114300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嘴巴裡哪些地方會長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嘴唇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臉頰內側（台灣最常見）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舌頭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舌頭下面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牙齦（包住牙齒的肉）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上顎（嘴巴的天花板）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最裡面大牙的後方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0" y="1234440"/>
            <a:ext cx="548640" cy="54864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371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0916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咬碎食物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709160" y="1527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牙齒和舌頭把食物磨碎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1234440"/>
            <a:ext cx="548640" cy="54864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716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吞東西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1527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舌頭把食物推進喉嚨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023360" y="2331720"/>
            <a:ext cx="548640" cy="54864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4688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0916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開始消化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709160" y="26243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飯嚼久了會變甜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0" y="2331720"/>
            <a:ext cx="548640" cy="54864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4688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0866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說話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086600" y="26243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舌頭、嘴唇一起發音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023360" y="3429000"/>
            <a:ext cx="548640" cy="54864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35661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70916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嚐味道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4709160" y="3721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酸甜苦鹹都靠舌頭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400800" y="3429000"/>
            <a:ext cx="548640" cy="54864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56616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08660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擋細菌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7086600" y="3721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口水像一道防護牆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什麼是口腔癌</a:t>
            </a:r>
            <a:endParaRPr lang="en-US" sz="2800" dirty="0"/>
          </a:p>
        </p:txBody>
      </p:sp>
      <p:sp>
        <p:nvSpPr>
          <p:cNvPr id="3" name="def-card"/>
          <p:cNvSpPr/>
          <p:nvPr/>
        </p:nvSpPr>
        <p:spPr>
          <a:xfrm>
            <a:off x="457200" y="11430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嘴巴內側的表皮長年被檳榔、菸、酒刺激，就像同一個地方一直被磨破，久了細胞「壞掉」開始亂長，</a:t>
            </a:r>
            <a:pPr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這就是口腔癌。</a:t>
            </a:r>
            <a:endParaRPr lang="en-US" sz="1500" dirty="0"/>
          </a:p>
        </p:txBody>
      </p:sp>
      <p:sp>
        <p:nvSpPr>
          <p:cNvPr id="5" name="step-0"/>
          <p:cNvSpPr/>
          <p:nvPr/>
        </p:nvSpPr>
        <p:spPr>
          <a:xfrm>
            <a:off x="457200" y="23774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正常的嘴巴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40864" y="2606040"/>
            <a:ext cx="182880" cy="274320"/>
          </a:xfrm>
          <a:prstGeom prst="chevron">
            <a:avLst/>
          </a:prstGeom>
          <a:solidFill>
            <a:srgbClr val="B98A9A"/>
          </a:solidFill>
          <a:ln w="12700">
            <a:solidFill>
              <a:srgbClr val="B98A9A"/>
            </a:solidFill>
            <a:prstDash val="solid"/>
          </a:ln>
        </p:spPr>
      </p:sp>
      <p:sp>
        <p:nvSpPr>
          <p:cNvPr id="8" name="step-1"/>
          <p:cNvSpPr/>
          <p:nvPr/>
        </p:nvSpPr>
        <p:spPr>
          <a:xfrm>
            <a:off x="2578608" y="23774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BE7D6"/>
          </a:solidFill>
          <a:ln w="12700">
            <a:solidFill>
              <a:srgbClr val="FBE7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78608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警告病變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62272" y="2606040"/>
            <a:ext cx="182880" cy="274320"/>
          </a:xfrm>
          <a:prstGeom prst="chevron">
            <a:avLst/>
          </a:prstGeom>
          <a:solidFill>
            <a:srgbClr val="B98A9A"/>
          </a:solidFill>
          <a:ln w="12700">
            <a:solidFill>
              <a:srgbClr val="B98A9A"/>
            </a:solidFill>
            <a:prstDash val="solid"/>
          </a:ln>
        </p:spPr>
      </p:sp>
      <p:sp>
        <p:nvSpPr>
          <p:cNvPr id="11" name="step-2"/>
          <p:cNvSpPr/>
          <p:nvPr/>
        </p:nvSpPr>
        <p:spPr>
          <a:xfrm>
            <a:off x="4700016" y="23774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0016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早期癌 (第1–2期)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0" y="2606040"/>
            <a:ext cx="182880" cy="274320"/>
          </a:xfrm>
          <a:prstGeom prst="chevron">
            <a:avLst/>
          </a:prstGeom>
          <a:solidFill>
            <a:srgbClr val="B98A9A"/>
          </a:solidFill>
          <a:ln w="12700">
            <a:solidFill>
              <a:srgbClr val="B98A9A"/>
            </a:solidFill>
            <a:prstDash val="solid"/>
          </a:ln>
        </p:spPr>
      </p:sp>
      <p:sp>
        <p:nvSpPr>
          <p:cNvPr id="14" name="step-3"/>
          <p:cNvSpPr/>
          <p:nvPr/>
        </p:nvSpPr>
        <p:spPr>
          <a:xfrm>
            <a:off x="6821424" y="23774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9C9D3"/>
          </a:solidFill>
          <a:ln w="12700">
            <a:solidFill>
              <a:srgbClr val="E9C9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21424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晚期癌 (第3–4期)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警告病變（癌前病變）：還不是癌，但可能變成癌，例如白斑、紅斑、嘴巴變硬；早發現就能阻止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分期：數字越大越嚴重；第 3、4 期代表腫瘤很大，或已跑到脖子或其他器官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小提醒：政府統計的「口腔癌」也包含喉嚨上段的癌症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資料來源：臺北榮總 口腔癌治療準則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台灣每年 8 千多人罹患口腔癌</a:t>
            </a:r>
            <a:endParaRPr lang="en-US" sz="2800" dirty="0"/>
          </a:p>
        </p:txBody>
      </p:sp>
      <p:sp>
        <p:nvSpPr>
          <p:cNvPr id="3" name="stat-0"/>
          <p:cNvSpPr/>
          <p:nvPr/>
        </p:nvSpPr>
        <p:spPr>
          <a:xfrm>
            <a:off x="457200" y="118872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8,522</a:t>
            </a:r>
            <a:pPr algn="ctr" indent="0" marL="0">
              <a:buNone/>
            </a:pPr>
            <a:r>
              <a:rPr lang="en-US" sz="1600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人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2023 年新得到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口腔癌的人數</a:t>
            </a:r>
            <a:endParaRPr lang="en-US" sz="1300" dirty="0"/>
          </a:p>
        </p:txBody>
      </p:sp>
      <p:sp>
        <p:nvSpPr>
          <p:cNvPr id="6" name="stat-1"/>
          <p:cNvSpPr/>
          <p:nvPr/>
        </p:nvSpPr>
        <p:spPr>
          <a:xfrm>
            <a:off x="2560320" y="118872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EFE7EA"/>
          </a:solidFill>
          <a:ln w="12700">
            <a:solidFill>
              <a:srgbClr val="EFE7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3,697</a:t>
            </a:r>
            <a:pPr algn="ctr" indent="0" marL="0">
              <a:buNone/>
            </a:pPr>
            <a:r>
              <a:rPr lang="en-US" sz="16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人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331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 年因口腔癌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過世的人數</a:t>
            </a:r>
            <a:endParaRPr lang="en-US" sz="1300" dirty="0"/>
          </a:p>
        </p:txBody>
      </p:sp>
      <p:sp>
        <p:nvSpPr>
          <p:cNvPr id="9" name="stat-2"/>
          <p:cNvSpPr/>
          <p:nvPr/>
        </p:nvSpPr>
        <p:spPr>
          <a:xfrm>
            <a:off x="4663440" y="118872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</a:t>
            </a:r>
            <a:pPr algn="ctr" indent="0" marL="0">
              <a:buNone/>
            </a:pPr>
            <a:r>
              <a:rPr lang="en-US" sz="1600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名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331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男性最常得的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癌症排名</a:t>
            </a:r>
            <a:endParaRPr lang="en-US" sz="1300" dirty="0"/>
          </a:p>
        </p:txBody>
      </p:sp>
      <p:sp>
        <p:nvSpPr>
          <p:cNvPr id="12" name="stat-3"/>
          <p:cNvSpPr/>
          <p:nvPr/>
        </p:nvSpPr>
        <p:spPr>
          <a:xfrm>
            <a:off x="6766560" y="118872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</a:t>
            </a:r>
            <a:pPr algn="ctr"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歲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331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一半的病人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不到 60 歲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平均每天約 23 人得病、約 10 人過世；扣除人口變老的影響後，2025 年比 2024 年改善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資料來源：國健署 112 年癌症登記報告（2025 公布）；衛福部 114 年死因統計（2026 公布）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患者約 9 成是男性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846320" y="1280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7,641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4846320" y="2011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2023 年新得到口腔癌的男性，每 10 個病人約 9 個是男生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27432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男性患者逾 8 成吸菸、約 7 成嚼檳榔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多是中年男性，常是家裡主要賺錢的人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資料來源：國健署 112 年癌症登記報告（女性人數 = 8,522 − 7,641）；國健署新聞稿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檳榔、菸、酒：風險層層加乘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arc-card"/>
          <p:cNvSpPr/>
          <p:nvPr/>
        </p:nvSpPr>
        <p:spPr>
          <a:xfrm>
            <a:off x="5303520" y="114300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檳榔本身就會致癌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7373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世界衛生組織的癌症研究機構把檳榔列為「確定會致癌」，不加紅灰、白灰也一樣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檳榔的粗纖維一直磨破嘴巴，造成反覆的傷口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其他：某些病毒感染、假牙不合、不刷牙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資料來源：葛應欽等（1995）台灣口腔癌與嚼檳榔、吸菸、酒精之關聯，引自國軍衛教資料；國健署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誰是高危險群</a:t>
            </a:r>
            <a:endParaRPr lang="en-US" sz="2800" dirty="0"/>
          </a:p>
        </p:txBody>
      </p:sp>
      <p:sp>
        <p:nvSpPr>
          <p:cNvPr id="3" name="risk-0"/>
          <p:cNvSpPr/>
          <p:nvPr/>
        </p:nvSpPr>
        <p:spPr>
          <a:xfrm>
            <a:off x="457200" y="1143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07592"/>
            <a:ext cx="585216" cy="585216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5389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527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歲以上吸菸或嚼檳榔者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6367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含已戒檳榔者</a:t>
            </a:r>
            <a:endParaRPr lang="en-US" sz="1200" dirty="0"/>
          </a:p>
        </p:txBody>
      </p:sp>
      <p:sp>
        <p:nvSpPr>
          <p:cNvPr id="8" name="risk-1"/>
          <p:cNvSpPr/>
          <p:nvPr/>
        </p:nvSpPr>
        <p:spPr>
          <a:xfrm>
            <a:off x="4663440" y="1143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307592"/>
            <a:ext cx="585216" cy="585216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4538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2527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歲以上嚼檳榔原住民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6367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含已戒檳榔者</a:t>
            </a:r>
            <a:endParaRPr lang="en-US" sz="1200" dirty="0"/>
          </a:p>
        </p:txBody>
      </p:sp>
      <p:sp>
        <p:nvSpPr>
          <p:cNvPr id="13" name="risk-2"/>
          <p:cNvSpPr/>
          <p:nvPr/>
        </p:nvSpPr>
        <p:spPr>
          <a:xfrm>
            <a:off x="457200" y="2240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2404872"/>
            <a:ext cx="585216" cy="585216"/>
          </a:xfrm>
          <a:prstGeom prst="ellipse">
            <a:avLst/>
          </a:prstGeom>
          <a:solidFill>
            <a:srgbClr val="6B5B62"/>
          </a:solidFill>
          <a:ln w="12700">
            <a:solidFill>
              <a:srgbClr val="6B5B6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55117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3500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中年男性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2734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 10 個病人約 9 個是男生</a:t>
            </a:r>
            <a:endParaRPr lang="en-US" sz="1200" dirty="0"/>
          </a:p>
        </p:txBody>
      </p:sp>
      <p:sp>
        <p:nvSpPr>
          <p:cNvPr id="18" name="risk-3"/>
          <p:cNvSpPr/>
          <p:nvPr/>
        </p:nvSpPr>
        <p:spPr>
          <a:xfrm>
            <a:off x="4663440" y="2240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2404872"/>
            <a:ext cx="585216" cy="585216"/>
          </a:xfrm>
          <a:prstGeom prst="ellipse">
            <a:avLst/>
          </a:prstGeom>
          <a:solidFill>
            <a:srgbClr val="6B5B62"/>
          </a:solidFill>
          <a:ln w="12700">
            <a:solidFill>
              <a:srgbClr val="6B5B6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255117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23500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菸、酒、檳榔多重使用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2734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風險加乘最高</a:t>
            </a:r>
            <a:endParaRPr lang="en-US" sz="1200" dirty="0"/>
          </a:p>
        </p:txBody>
      </p:sp>
      <p:sp>
        <p:nvSpPr>
          <p:cNvPr id="23" name="risk-4"/>
          <p:cNvSpPr/>
          <p:nvPr/>
        </p:nvSpPr>
        <p:spPr>
          <a:xfrm>
            <a:off x="457200" y="33375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3502152"/>
            <a:ext cx="585216" cy="585216"/>
          </a:xfrm>
          <a:prstGeom prst="ellipse">
            <a:avLst/>
          </a:prstGeom>
          <a:solidFill>
            <a:srgbClr val="6B5B62"/>
          </a:solidFill>
          <a:ln w="12700">
            <a:solidFill>
              <a:srgbClr val="6B5B6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64845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34472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需長時間提神的勞動工作者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371600" y="38313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如貨運司機、建築工</a:t>
            </a:r>
            <a:endParaRPr lang="en-US" sz="1200" dirty="0"/>
          </a:p>
        </p:txBody>
      </p:sp>
      <p:sp>
        <p:nvSpPr>
          <p:cNvPr id="28" name="risk-5"/>
          <p:cNvSpPr/>
          <p:nvPr/>
        </p:nvSpPr>
        <p:spPr>
          <a:xfrm>
            <a:off x="4663440" y="33375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46320" y="3502152"/>
            <a:ext cx="585216" cy="585216"/>
          </a:xfrm>
          <a:prstGeom prst="ellipse">
            <a:avLst/>
          </a:prstGeom>
          <a:solidFill>
            <a:srgbClr val="6B5B62"/>
          </a:solidFill>
          <a:ln w="12700">
            <a:solidFill>
              <a:srgbClr val="6B5B6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3648456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577840" y="34472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嘴巴已經有異常的人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5577840" y="38313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白斑、紅斑、嘴巴內側變硬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資料來源：國健署口腔黏膜檢查補助資格；國健署 112 年癌症登記報告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五大警訊：破、斑、硬、突、腫</a:t>
            </a:r>
            <a:endParaRPr lang="en-US" sz="2800" dirty="0"/>
          </a:p>
        </p:txBody>
      </p:sp>
      <p:sp>
        <p:nvSpPr>
          <p:cNvPr id="3" name="sx-0"/>
          <p:cNvSpPr/>
          <p:nvPr/>
        </p:nvSpPr>
        <p:spPr>
          <a:xfrm>
            <a:off x="457200" y="114300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破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402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嘴破超過兩個禮拜還沒好</a:t>
            </a:r>
            <a:endParaRPr lang="en-US" sz="1300" dirty="0"/>
          </a:p>
        </p:txBody>
      </p:sp>
      <p:sp>
        <p:nvSpPr>
          <p:cNvPr id="6" name="sx-1"/>
          <p:cNvSpPr/>
          <p:nvPr/>
        </p:nvSpPr>
        <p:spPr>
          <a:xfrm>
            <a:off x="2139696" y="114300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39696" y="12801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斑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2276856" y="22402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出現擦不掉的白色或紅色斑塊</a:t>
            </a:r>
            <a:endParaRPr lang="en-US" sz="1300" dirty="0"/>
          </a:p>
        </p:txBody>
      </p:sp>
      <p:sp>
        <p:nvSpPr>
          <p:cNvPr id="9" name="sx-2"/>
          <p:cNvSpPr/>
          <p:nvPr/>
        </p:nvSpPr>
        <p:spPr>
          <a:xfrm>
            <a:off x="3822192" y="114300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22192" y="12801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3959352" y="22402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嘴巴內側變硬，嘴巴張不開</a:t>
            </a:r>
            <a:endParaRPr lang="en-US" sz="1300" dirty="0"/>
          </a:p>
        </p:txBody>
      </p:sp>
      <p:sp>
        <p:nvSpPr>
          <p:cNvPr id="12" name="sx-3"/>
          <p:cNvSpPr/>
          <p:nvPr/>
        </p:nvSpPr>
        <p:spPr>
          <a:xfrm>
            <a:off x="5504688" y="114300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04688" y="12801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突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5641848" y="22402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長出凹凸不平的小肉塊</a:t>
            </a:r>
            <a:endParaRPr lang="en-US" sz="1300" dirty="0"/>
          </a:p>
        </p:txBody>
      </p:sp>
      <p:sp>
        <p:nvSpPr>
          <p:cNvPr id="15" name="sx-4"/>
          <p:cNvSpPr/>
          <p:nvPr/>
        </p:nvSpPr>
        <p:spPr>
          <a:xfrm>
            <a:off x="7187184" y="1143000"/>
            <a:ext cx="1517904" cy="2331720"/>
          </a:xfrm>
          <a:prstGeom prst="roundRect">
            <a:avLst>
              <a:gd name="adj" fmla="val 4819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87184" y="12801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腫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7324344" y="224028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臉或脖子腫起來、左右不一樣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其他：嘴巴流血或麻麻的、牙齒突然鬆動、吞東西或說話困難、一直變瘦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050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早期常常不會痛，很多人以為只是嘴破，自己擦藥而拖延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資料來源：衛福部國健署「破斑硬突腫」口腔癌警訊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預防：拒菸檳、定期篩、早治療</a:t>
            </a:r>
            <a:endParaRPr lang="en-US" sz="2800" dirty="0"/>
          </a:p>
        </p:txBody>
      </p:sp>
      <p:sp>
        <p:nvSpPr>
          <p:cNvPr id="3" name="prev-0"/>
          <p:cNvSpPr/>
          <p:nvPr/>
        </p:nvSpPr>
        <p:spPr>
          <a:xfrm>
            <a:off x="457200" y="11430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98448"/>
            <a:ext cx="548640" cy="54864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3560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984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拒菸檳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不吃檳榔、不抽菸、少喝酒；戒檳榔 10 年，風險可降約二到五成</a:t>
            </a:r>
            <a:endParaRPr lang="en-US" sz="1300" dirty="0"/>
          </a:p>
        </p:txBody>
      </p:sp>
      <p:sp>
        <p:nvSpPr>
          <p:cNvPr id="8" name="prev-1"/>
          <p:cNvSpPr/>
          <p:nvPr/>
        </p:nvSpPr>
        <p:spPr>
          <a:xfrm>
            <a:off x="3246120" y="11430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29844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356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2984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定期篩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政府免費幫你檢查嘴巴，每 2 年 1 次，只要 3 分鐘、不會痛</a:t>
            </a:r>
            <a:endParaRPr lang="en-US" sz="1300" dirty="0"/>
          </a:p>
        </p:txBody>
      </p:sp>
      <p:sp>
        <p:nvSpPr>
          <p:cNvPr id="13" name="prev-2"/>
          <p:cNvSpPr/>
          <p:nvPr/>
        </p:nvSpPr>
        <p:spPr>
          <a:xfrm>
            <a:off x="6035040" y="11430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298448"/>
            <a:ext cx="548640" cy="548640"/>
          </a:xfrm>
          <a:prstGeom prst="ellipse">
            <a:avLst/>
          </a:prstGeom>
          <a:solidFill>
            <a:srgbClr val="2A1520"/>
          </a:solidFill>
          <a:ln w="12700">
            <a:solidFill>
              <a:srgbClr val="2A152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3560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2984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早治療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檢查有異常，就到大醫院切一小塊化驗，早點治療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154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-26%</a:t>
            </a:r>
            <a:pPr indent="0" marL="0">
              <a:buNone/>
            </a:pPr>
            <a:r>
              <a:rPr lang="en-US" sz="15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因口腔癌過世的風險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4663440" y="3154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-21%</a:t>
            </a:r>
            <a:pPr indent="0" marL="0">
              <a:buNone/>
            </a:pPr>
            <a:r>
              <a:rPr lang="en-US" sz="15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拖到很嚴重才發現的風險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定期檢查嘴巴的效果；檢查找到的問題，約 8 成是還沒變成癌或很早期的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資料來源：衛福部「定期口腔黏膜檢查 降低 26% 死亡風險」（引臺大研究）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免費嘴巴檢查與政府政策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754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誰可以做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歲以上有吃檳榔（含已戒）或抽菸的人；18 歲以上有吃檳榔（含已戒）的原住民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多久一次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 2 年 1 次，免費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去哪裡做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帶健保卡到有健保的牙科或耳鼻喉科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有沒有用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 2 年約找出近 3,000 個警告病變、1,000 多個口腔癌病人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policy-card"/>
          <p:cNvSpPr/>
          <p:nvPr/>
        </p:nvSpPr>
        <p:spPr>
          <a:xfrm>
            <a:off x="5486400" y="1143000"/>
            <a:ext cx="3200400" cy="3200400"/>
          </a:xfrm>
          <a:prstGeom prst="roundRect">
            <a:avLst>
              <a:gd name="adj" fmla="val 2286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政策動態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69164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 年起放寬免費癌症檢查；2026 年起可免費檢查 6 種癌症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 年免費癌症檢查約 481 萬人次，找出約 5 萬個警告病變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管理檳榔的法律草案 2024 年底提出，2026 年仍未送立法院，監察院已批評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資料來源：國健署新聞稿；IQ 健康網（2026 癌篩）；聯合報、工商時報（2026）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主要治療方式</a:t>
            </a:r>
            <a:endParaRPr lang="en-US" sz="2800" dirty="0"/>
          </a:p>
        </p:txBody>
      </p:sp>
      <p:sp>
        <p:nvSpPr>
          <p:cNvPr id="3" name="tx-0"/>
          <p:cNvSpPr/>
          <p:nvPr/>
        </p:nvSpPr>
        <p:spPr>
          <a:xfrm>
            <a:off x="45720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07592"/>
            <a:ext cx="502920" cy="50292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522" y="1433322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075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開刀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8928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最主要的治療；切掉腫瘤，再從手或腳取皮肉補回去</a:t>
            </a:r>
            <a:endParaRPr lang="en-US" sz="1200" dirty="0"/>
          </a:p>
        </p:txBody>
      </p:sp>
      <p:sp>
        <p:nvSpPr>
          <p:cNvPr id="8" name="tx-1"/>
          <p:cNvSpPr/>
          <p:nvPr/>
        </p:nvSpPr>
        <p:spPr>
          <a:xfrm>
            <a:off x="32461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10712" y="1307592"/>
            <a:ext cx="502920" cy="50292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442" y="1433322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3075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電療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10712" y="18928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用高能量射線照癌細胞；會口乾、嘴破</a:t>
            </a:r>
            <a:endParaRPr lang="en-US" sz="1200" dirty="0"/>
          </a:p>
        </p:txBody>
      </p:sp>
      <p:sp>
        <p:nvSpPr>
          <p:cNvPr id="13" name="tx-2"/>
          <p:cNvSpPr/>
          <p:nvPr/>
        </p:nvSpPr>
        <p:spPr>
          <a:xfrm>
            <a:off x="60350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99632" y="1307592"/>
            <a:ext cx="502920" cy="50292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362" y="1433322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3075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電療＋化療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199632" y="18928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容易復發或太大切不掉時，兩種一起做</a:t>
            </a:r>
            <a:endParaRPr lang="en-US" sz="1200" dirty="0"/>
          </a:p>
        </p:txBody>
      </p:sp>
      <p:sp>
        <p:nvSpPr>
          <p:cNvPr id="18" name="tx-3"/>
          <p:cNvSpPr/>
          <p:nvPr/>
        </p:nvSpPr>
        <p:spPr>
          <a:xfrm>
            <a:off x="457200" y="2743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1792" y="2907792"/>
            <a:ext cx="502920" cy="502920"/>
          </a:xfrm>
          <a:prstGeom prst="ellipse">
            <a:avLst/>
          </a:prstGeom>
          <a:solidFill>
            <a:srgbClr val="6B5B62"/>
          </a:solidFill>
          <a:ln w="12700">
            <a:solidFill>
              <a:srgbClr val="6B5B6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2" y="3033522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2907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化療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" y="34930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用藥物殺全身的癌細胞；會想吐、掉頭髮</a:t>
            </a:r>
            <a:endParaRPr lang="en-US" sz="1200" dirty="0"/>
          </a:p>
        </p:txBody>
      </p:sp>
      <p:sp>
        <p:nvSpPr>
          <p:cNvPr id="23" name="tx-4"/>
          <p:cNvSpPr/>
          <p:nvPr/>
        </p:nvSpPr>
        <p:spPr>
          <a:xfrm>
            <a:off x="3246120" y="2743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10712" y="2907792"/>
            <a:ext cx="502920" cy="502920"/>
          </a:xfrm>
          <a:prstGeom prst="ellipse">
            <a:avLst/>
          </a:prstGeom>
          <a:solidFill>
            <a:srgbClr val="6B5B62"/>
          </a:solidFill>
          <a:ln w="12700">
            <a:solidFill>
              <a:srgbClr val="6B5B6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6442" y="3033522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2907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標靶治療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10712" y="34930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像導彈一樣，專打癌細胞的特定目標</a:t>
            </a:r>
            <a:endParaRPr lang="en-US" sz="1200" dirty="0"/>
          </a:p>
        </p:txBody>
      </p:sp>
      <p:sp>
        <p:nvSpPr>
          <p:cNvPr id="28" name="tx-5"/>
          <p:cNvSpPr/>
          <p:nvPr/>
        </p:nvSpPr>
        <p:spPr>
          <a:xfrm>
            <a:off x="6035040" y="2743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199632" y="2907792"/>
            <a:ext cx="502920" cy="502920"/>
          </a:xfrm>
          <a:prstGeom prst="ellipse">
            <a:avLst/>
          </a:prstGeom>
          <a:solidFill>
            <a:srgbClr val="6B5B62"/>
          </a:solidFill>
          <a:ln w="12700">
            <a:solidFill>
              <a:srgbClr val="6B5B6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5362" y="3033522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12280" y="2907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免疫治療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199632" y="34930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拆穿癌細胞的偽裝，讓身體自己去打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資料來源：臺北榮總口腔癌治療準則；臺大醫院健康電子報；聯合報（免疫治療給付）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越早發現，越有機會活下來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280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成以上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早期發現的病人，活超過 5 年的比例（國健署相關研究）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2834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但超過 7 成的頭頸部癌症病人，被發現時已經比較嚴重（醫師，2026）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資料來源：NOWnews、TVBS 醫師訪談（各院數字略有差異，第 1 期取 80%–90% 中間值）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新聞實例</a:t>
            </a:r>
            <a:endParaRPr lang="en-US" sz="2800" dirty="0"/>
          </a:p>
        </p:txBody>
      </p:sp>
      <p:sp>
        <p:nvSpPr>
          <p:cNvPr id="3" name="news-0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52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2026/06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252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聯合報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監察院批評行政院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476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管理檳榔的法律拖了很久，到現在還沒送立法院</a:t>
            </a:r>
            <a:endParaRPr lang="en-US" sz="1300" dirty="0"/>
          </a:p>
        </p:txBody>
      </p:sp>
      <p:sp>
        <p:nvSpPr>
          <p:cNvPr id="8" name="news-1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52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2026/03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252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TVBS 健康 2+1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 歲男長期菸檳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9476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醫師：頭頸部癌症以口腔癌最多，逾 7 成發現時已較嚴重</a:t>
            </a:r>
            <a:endParaRPr lang="en-US" sz="1300" dirty="0"/>
          </a:p>
        </p:txBody>
      </p:sp>
      <p:sp>
        <p:nvSpPr>
          <p:cNvPr id="13" name="news-2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44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2025/09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TVBS 健康 2+1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藝人江國賓口腔腫瘤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3931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年輕時抽菸吃檳榔，化驗是良性（不是癌），醫師提醒要一輩子定期檢查</a:t>
            </a:r>
            <a:endParaRPr lang="en-US" sz="1300" dirty="0"/>
          </a:p>
        </p:txBody>
      </p:sp>
      <p:sp>
        <p:nvSpPr>
          <p:cNvPr id="18" name="news-3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6E6EB"/>
          </a:solidFill>
          <a:ln w="12700">
            <a:solidFill>
              <a:srgbClr val="F6E6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2944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TVBS 新聞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嘴破 2 個月沒好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63931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 歲男子長期吃檳榔提神，嘴破自己擦藥，看醫生時已是最嚴重的第 4 期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小組分工表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42976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負責項目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具體工作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組員 1（組長）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統籌、器官功能與疾病定義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分配進度、彙整書面報告；撰寫構造、功能、定義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組員 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台灣現況統計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查核癌症登記與死因統計最新數字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組員 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成因與高危險群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整理檳榔、菸、酒等危險因子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組員 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症狀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說明「破斑硬突腫」並找示意圖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組員 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預防方法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戒菸檳、公費篩檢與政策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組員 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主要治療方式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手術、放化療、標靶、免疫與存活率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組員 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實例、資料來源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5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挑選新聞影片、核對連結與參考格式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請換成真實姓名並依老師規定格式調整；每人另交個人心得 200–300 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資料來源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政府機關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衛生福利部（2026）。114 年國人死因統計結果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衛生福利部（2025）。113 年國人死因統計結果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國民健康署（2025）。112 年國人癌症登記資料分析結果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國民健康署（2024）。111 年癌症登記報告記者會簡報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國民健康署。口腔癌 2 年 1 篩、114 年起擴大癌症篩檢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衛福部。定期口腔黏膜檢查降低 26% 死亡風險；破斑硬突腫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醫學中心、研究與新聞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37160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7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臺北榮民總醫院。口腔癌治療準則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7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臺大醫院健康電子報 236 期。頭頸癌的治療新趨勢與挑戰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7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葛應欽等（1995）。口腔癌與嚼檳榔、吸菸、酒精之關聯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7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聯合報（2026）；工商時報（2026）：檳榔防制專法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7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TVBS（2020、2025、2026）口腔癌相關報導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7"/>
            </a:pPr>
            <a:r>
              <a:rPr lang="en-US" sz="1300" dirty="0">
                <a:solidFill>
                  <a:srgbClr val="2A15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鏡週刊（2023）；聯合報：健保免疫治療給付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完整網址見書面報告「資料來源」一節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拒菸檳、定期篩、早治療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口腔癌是最容易預防的癌症之一 —— 提醒身邊有菸檳習慣的家人，每 2 年做一次免費嘴巴檢查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457200"/>
            <a:ext cx="1097280" cy="10972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31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3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謝謝聆聽．Q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l Cancer Report">
  <a:themeElements>
    <a:clrScheme name="Oral Cancer Report">
      <a:dk1>
        <a:srgbClr val="2A1520"/>
      </a:dk1>
      <a:lt1>
        <a:srgbClr val="FFFFFF"/>
      </a:lt1>
      <a:dk2>
        <a:srgbClr val="7A1F3D"/>
      </a:dk2>
      <a:lt2>
        <a:srgbClr val="F6E6EB"/>
      </a:lt2>
      <a:accent1>
        <a:srgbClr val="7A1F3D"/>
      </a:accent1>
      <a:accent2>
        <a:srgbClr val="0F766E"/>
      </a:accent2>
      <a:accent3>
        <a:srgbClr val="C2410C"/>
      </a:accent3>
      <a:accent4>
        <a:srgbClr val="B98A9A"/>
      </a:accent4>
      <a:accent5>
        <a:srgbClr val="4B5563"/>
      </a:accent5>
      <a:accent6>
        <a:srgbClr val="9CA3AF"/>
      </a:accent6>
      <a:hlink>
        <a:srgbClr val="0F766E"/>
      </a:hlink>
      <a:folHlink>
        <a:srgbClr val="7A1F3D"/>
      </a:folHlink>
    </a:clrScheme>
    <a:fontScheme name="Oral Cancer Report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口腔癌 分組報告</dc:title>
  <dc:subject>PptxGenJS Presentation</dc:subject>
  <dc:creator>PptxGenJS</dc:creator>
  <cp:lastModifiedBy>PptxGenJS</cp:lastModifiedBy>
  <cp:revision>1</cp:revision>
  <dcterms:created xsi:type="dcterms:W3CDTF">2026-10-19T04:07:35Z</dcterms:created>
  <dcterms:modified xsi:type="dcterms:W3CDTF">2026-10-19T04:07:35Z</dcterms:modified>
</cp:coreProperties>
</file>